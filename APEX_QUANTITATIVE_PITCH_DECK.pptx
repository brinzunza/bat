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8FAFC"/>
                </a:solidFill>
              </a:defRPr>
            </a:pPr>
            <a:r>
              <a:t>APEX QUANTITATIVE CAPITAL</a:t>
            </a:r>
          </a:p>
          <a:p>
            <a:pPr>
              <a:spcAft>
                <a:spcPts val="2400"/>
              </a:spcAft>
              <a:defRPr sz="2200">
                <a:solidFill>
                  <a:srgbClr val="06B6D4"/>
                </a:solidFill>
              </a:defRPr>
            </a:pPr>
            <a:r>
              <a:t>DTFX Omega Systematic Strategy: Market-Structure Alpha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</a:defRPr>
            </a:pPr>
            <a:r>
              <a:t>• 22 Consecutive Profitable Years (2005 – 2026) with Zero Losing Calendar Years</a:t>
            </a:r>
            <a:br/>
            <a:r>
              <a:t>• 60.1% Win Rate Across 23,269 Live-Simulated Executions (+4,472 R Cumulative)</a:t>
            </a:r>
            <a:br/>
            <a:r>
              <a:t>• 93.5% Profitable Monthly Horizons &amp; 100% Expanding Walk-Forward OOS Success</a:t>
            </a:r>
            <a:br/>
            <a:r>
              <a:t>• Non-Correlated Macro Alpha with Passive Zero-Spread Limit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APEX QUANTITATIVE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 &amp; Strategy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22 / 22 Years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</a:defRPr>
            </a:pPr>
            <a:r>
              <a:t>100.0% Green Years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Zero negative calendar years across 2005-2026 sample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603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544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C55E"/>
                </a:solidFill>
              </a:defRPr>
            </a:pPr>
            <a:r>
              <a:t>60.1% Win Rate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</a:defRPr>
            </a:pPr>
            <a:r>
              <a:t>1.51 Profit Factor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+0.203 R Expectancy across 23,269 total trades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6.53 Sharpe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</a:defRPr>
            </a:pPr>
            <a:r>
              <a:t>6.36 HAC-Adjusted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Tightly bounded daily compounding risk-adjusted returns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5603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5544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93.5% Months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</a:defRPr>
            </a:pPr>
            <a:r>
              <a:t>243 / 260 Profitable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Extremely steady right-skewed monthly distributions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069848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40480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B6D4"/>
                </a:solidFill>
              </a:defRPr>
            </a:pPr>
            <a:r>
              <a:t>Core Quantitative Thesis &amp; Structural Edge: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Market-Structure Inefficiency: Traditional algorithms cross spreads prematurely upon supply/demand formation. DTFX Omega enforces a strict 3.37-hour maturation filter, eliminating exploratory retail wicks.</a:t>
            </a:r>
            <a:br/>
            <a:r>
              <a:t>• Passive Execution Advantage: Entries and primary exits are executed as resting limit orders at structural 50% retracements, capturing zero-spread executions.</a:t>
            </a:r>
            <a:br/>
            <a:r>
              <a:t>• Session Liquidity Concentration: Gated strictly to institutional volume rebalancing windows (SOMEGA), lifting standalone win rates to 66.9% - 69.6% across FX majors.</a:t>
            </a:r>
            <a:br/>
            <a:r>
              <a:t>• Dynamic Multi-Touch Compounding: Unbreached institutional zones are re-armed for up to 4 consecutive touches, extracting 56% more cumulative alpha.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APEX QUANTITATIVE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Multi-Decade Periodicity Performance (2005 – 2026)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45920"/>
                <a:gridCol w="1828800"/>
                <a:gridCol w="1645920"/>
                <a:gridCol w="1645920"/>
                <a:gridCol w="18288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Time Horizon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Total Sample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Profitable Units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Win Rate %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Profit Factor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Average Return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Individual Trades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23,269 trades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13,993 wins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</a:defRPr>
                      </a:pPr>
                      <a:r>
                        <a:t>60.1%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</a:defRPr>
                      </a:pPr>
                      <a:r>
                        <a:t>1.51 PF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+0.203 R / trade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Trading Days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5,228 days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3,055 green days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</a:defRPr>
                      </a:pPr>
                      <a:r>
                        <a:t>58.4%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</a:defRPr>
                      </a:pPr>
                      <a:r>
                        <a:t>1.38 : 1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+0.90 R / day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Trading Weeks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1,116 weeks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863 green weeks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</a:defRPr>
                      </a:pPr>
                      <a:r>
                        <a:t>77.3%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</a:defRPr>
                      </a:pPr>
                      <a:r>
                        <a:t>2.13 :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+4.23 R / week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Trading Months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260 months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243 green months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</a:defRPr>
                      </a:pPr>
                      <a:r>
                        <a:t>93.5%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</a:defRPr>
                      </a:pPr>
                      <a:r>
                        <a:t>3.92 : 1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+18.1 R / month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Trading Years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22 years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22 green years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inf (0 Losses)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+214.4 R / year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APEX QUANTITATIVE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12-Year Expanding-Window Walk-Forward Out-Of-Sample (OOS) Scorecard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337310"/>
                <a:gridCol w="1337310"/>
                <a:gridCol w="1337310"/>
                <a:gridCol w="1337310"/>
                <a:gridCol w="1337310"/>
                <a:gridCol w="1337310"/>
                <a:gridCol w="1337310"/>
              </a:tblGrid>
              <a:tr h="3798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OOS Year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Anchor Window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OOS Trades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OOS Win %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OOS PF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OOS Return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Daily Sharpe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Max DD (1%)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2015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2009 - 2014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1,135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60.5%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1.53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+239.0 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6.94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13.2%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2016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2009 - 2015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1,110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57.6%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1.36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+168.0 R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5.10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10.7%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2009 - 2016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1,221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55.9%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1.27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+143.0 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3.86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16.8%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2009 - 2017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1,386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59.8%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1.49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+272.0 R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6.54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9.7%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2009 - 2018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1,253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58.3%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+207.0 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5.36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2009 - 2019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1,595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57.2%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1.34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+231.0 R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5.22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15.3%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2009 - 2020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1,426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65.4%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1.89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+438.0 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10.37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9.6%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2009 - 2021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1,409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61.9%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1.62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+335.0 R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8.37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10.5%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2009 - 2022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1,291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61.1%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1.57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+287.0 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6.87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14.2%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2009 - 2023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1,274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65.3%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1.88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+390.0 R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10.26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9.6%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2009 - 2024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1,469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62.4%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1.66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+365.0 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7.93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9.7%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7983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2026 YTD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2009 - 2025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897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62.5%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1.67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+225.0 R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7.86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16.6%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APEX QUANTITATIVE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Market Microstructure Capacity &amp; Adverse Selection Modeling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Order Size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Eq AUM (1%)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P(fill|Win)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P(fill|Loss)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Avg Slip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Profit Factor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Avg R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Annual PnL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Feasibility Status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$1.0M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$180,000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98.8%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99.4%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0.08 pips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1.48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+0.193 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$454,307 / yr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OPTIMAL (Zero Drag)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$2.5M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$450,000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96.8%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98.5%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0.17 pips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1.45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+0.182 R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$1,054,794 / yr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OPTIMAL (Zero Drag)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$5.0M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$900,000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93.2%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97.0%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0.31 pips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+0.163 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$1,839,741 / yr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EXCELLENT (Fund Tier)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$7.5M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$1,350,000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89.4%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95.5%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0.44 pips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1.34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+0.144 R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$2,356,127 / yr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EXCELLENT (Fund Tier)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$10.0M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$1,800,000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85.6%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94.0%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0.57 pips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1.28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+0.123 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$2,606,558 / yr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EXCELLENT (Fund Tier)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$12.0M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$2,160,000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82.4%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92.8%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0.66 pips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1.24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+0.106 R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59E0B"/>
                          </a:solidFill>
                        </a:defRPr>
                      </a:pPr>
                      <a:r>
                        <a:t>$2,617,623 / yr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59E0B"/>
                          </a:solidFill>
                        </a:defRPr>
                      </a:pPr>
                      <a:r>
                        <a:t>🎯 PEAK EXTRACTION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$14.0M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$2,520,000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79.3%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91.6%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0.75 pips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1.19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+0.088 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$2,462,477 / yr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VIABLE (Prime Broker)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$20.0M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$3,600,000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69.5%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88.0%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1.02 pips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1.06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+0.028 R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C55E"/>
                          </a:solidFill>
                        </a:defRPr>
                      </a:pPr>
                      <a:r>
                        <a:t>$1,020,330 / yr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MARGINAL CAPACITY</a:t>
                      </a:r>
                    </a:p>
                  </a:txBody>
                  <a:tcPr>
                    <a:solidFill>
                      <a:srgbClr val="27344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Disclaimer: Capacity estimates are simulated microstructure scenario models conditional on historical L2 depth assumptions; they have not yet been validated through live institutional execution. The optimal execution sweet-spot is $1.0M - $12.0M notional ($180k - $2.16M AUM).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APEX QUANTITATIVE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Institutional Offerings &amp; Production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OPTION A: SEPARATELY MANAGED ACCOUNT (SMA)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Custody: 100% Investor Custody at OANDA / Interactive Brokers</a:t>
            </a:r>
            <a:br/>
            <a:r>
              <a:t>• Minimum Investment: $25,000 USD</a:t>
            </a:r>
            <a:br/>
            <a:r>
              <a:t>• Liquidity: Instant Daily Liquidity (Investor retains withdrawal control)</a:t>
            </a:r>
            <a:br/>
            <a:r>
              <a:t>• Management Fee: 0.0% (Zero Fixed Overhead)</a:t>
            </a:r>
            <a:br/>
            <a:r>
              <a:t>• Performance Fee: 25.0% with Strict High-Water Mark</a:t>
            </a:r>
            <a:br/>
            <a:br/>
            <a:r>
              <a:t>OPTION B: PRIVATE LP FUND / SYNDICATE</a:t>
            </a:r>
            <a:br/>
            <a:r>
              <a:t>• Structure: Delaware / Cayman Pooled Fund</a:t>
            </a:r>
            <a:br/>
            <a:r>
              <a:t>• Minimum Investment: $100,000 USD</a:t>
            </a:r>
            <a:br/>
            <a:r>
              <a:t>• Management Fee: 1.5% | Performance Fee: 20.0% HWM</a:t>
            </a:r>
            <a:br/>
            <a:r>
              <a:t>• Liquidity: Monthly Redemptions (15-day notice)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24/7 PRODUCTION CLOUD ARCHITECTURE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Cloud Infrastructure: Dedicated Linux VM with 24/7 systemd daemon</a:t>
            </a:r>
            <a:br/>
            <a:r>
              <a:t>• Order Execution: OANDA v20 REST / WebSocket API (&lt;30ms execution)</a:t>
            </a:r>
            <a:br/>
            <a:r>
              <a:t>• Dual-Account FIFO Bypass: Long (002) &amp; Short (003) segregated sub-accounts</a:t>
            </a:r>
            <a:br/>
            <a:r>
              <a:t>• Database Persistence: SQLite WAL Mode with automatic crash recovery</a:t>
            </a:r>
            <a:br/>
            <a:r>
              <a:t>• Real-Time Monitoring: Bi-directional Telegram Bot (@brinztradingbot)</a:t>
            </a:r>
            <a:br/>
            <a:r>
              <a:t>• Parameter Freeze: Formally frozen under APEX v1.0 (PROD)</a:t>
            </a:r>
            <a:br/>
            <a:br/>
            <a:r>
              <a:t>CONTACT &amp; DUE DILIGENCE:</a:t>
            </a:r>
            <a:br/>
            <a:r>
              <a:t>• Research Repo: github.com/brinzunza/data-research</a:t>
            </a:r>
            <a:br/>
            <a:r>
              <a:t>• Production Repo: github.com/brinzunza/PRODLIVETRADING</a:t>
            </a:r>
            <a:br/>
            <a:r>
              <a:t>• Telemetry Bot: @brinztradingbot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