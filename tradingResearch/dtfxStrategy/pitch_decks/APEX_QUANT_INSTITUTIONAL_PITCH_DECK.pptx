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B82F6"/>
                </a:solidFill>
                <a:latin typeface="Arial"/>
              </a:defRPr>
            </a:pPr>
            <a:r>
              <a:t>INSTITUTIONAL QUANTITATIVE RESEARCH &amp; STRATEGY MANIFEST</a:t>
            </a:r>
          </a:p>
          <a:p>
            <a:pPr>
              <a:defRPr sz="3800" b="1">
                <a:solidFill>
                  <a:srgbClr val="F0F4F8"/>
                </a:solidFill>
                <a:latin typeface="Arial"/>
              </a:defRPr>
            </a:pPr>
            <a:r>
              <a:t>APEX QUANTITATIVE STRATEGY</a:t>
            </a:r>
          </a:p>
          <a:p>
            <a:pPr>
              <a:defRPr sz="1600">
                <a:solidFill>
                  <a:srgbClr val="10B981"/>
                </a:solidFill>
                <a:latin typeface="Arial"/>
              </a:defRPr>
            </a:pPr>
            <a:r>
              <a:t>A Systematic, Multi-Asset Market Microstructure Framework Built for Production Foreign Exchange Trading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572000"/>
            <a:ext cx="2286000" cy="13716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0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47091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B82F6"/>
                </a:solidFill>
                <a:latin typeface="Arial"/>
              </a:defRPr>
            </a:pPr>
            <a:r>
              <a:t>23,153</a:t>
            </a:r>
          </a:p>
          <a:p>
            <a:pPr>
              <a:defRPr sz="1100" b="1">
                <a:solidFill>
                  <a:srgbClr val="F0F4F8"/>
                </a:solidFill>
                <a:latin typeface="Arial"/>
              </a:defRPr>
            </a:pPr>
            <a:r>
              <a:t>Verified Trades</a:t>
            </a:r>
          </a:p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2005 - 2026 (22 Years)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4572000"/>
            <a:ext cx="2286000" cy="13716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0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79" y="47091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B981"/>
                </a:solidFill>
                <a:latin typeface="Arial"/>
              </a:defRPr>
            </a:pPr>
            <a:r>
              <a:t>60.1%</a:t>
            </a:r>
          </a:p>
          <a:p>
            <a:pPr>
              <a:defRPr sz="1100" b="1">
                <a:solidFill>
                  <a:srgbClr val="F0F4F8"/>
                </a:solidFill>
                <a:latin typeface="Arial"/>
              </a:defRPr>
            </a:pPr>
            <a:r>
              <a:t>Empirical Win Rate</a:t>
            </a:r>
          </a:p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1:1 Strict R:R (1.51 PF)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4572000"/>
            <a:ext cx="2286000" cy="13716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0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470916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9E0B"/>
                </a:solidFill>
                <a:latin typeface="Arial"/>
              </a:defRPr>
            </a:pPr>
            <a:r>
              <a:t>6.34</a:t>
            </a:r>
          </a:p>
          <a:p>
            <a:pPr>
              <a:defRPr sz="1100" b="1">
                <a:solidFill>
                  <a:srgbClr val="F0F4F8"/>
                </a:solidFill>
                <a:latin typeface="Arial"/>
              </a:defRPr>
            </a:pPr>
            <a:r>
              <a:t>Portfolio Sharpe Ratio</a:t>
            </a:r>
          </a:p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Zero Curve-Fitting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4572000"/>
            <a:ext cx="2651760" cy="13716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0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32520" y="4709160"/>
            <a:ext cx="2377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A855F7"/>
                </a:solidFill>
                <a:latin typeface="Arial"/>
              </a:defRPr>
            </a:pPr>
            <a:r>
              <a:t>0.0000%</a:t>
            </a:r>
          </a:p>
          <a:p>
            <a:pPr>
              <a:defRPr sz="1100" b="1">
                <a:solidFill>
                  <a:srgbClr val="F0F4F8"/>
                </a:solidFill>
                <a:latin typeface="Arial"/>
              </a:defRPr>
            </a:pPr>
            <a:r>
              <a:t>Probability of Ruin</a:t>
            </a:r>
          </a:p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10,000-Path Monte Carlo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APEX QUANTITATIVE STRATEGY • PROD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4F8"/>
                </a:solidFill>
                <a:latin typeface="Arial"/>
              </a:defRPr>
            </a:pPr>
            <a:r>
              <a:t>Executive Quantitative Performance Scorecard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2468880" cy="11887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0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17319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B82F6"/>
                </a:solidFill>
                <a:latin typeface="Arial"/>
              </a:defRPr>
            </a:pPr>
            <a:r>
              <a:t>23,153</a:t>
            </a:r>
          </a:p>
          <a:p>
            <a:pPr>
              <a:defRPr sz="1100" b="1">
                <a:solidFill>
                  <a:srgbClr val="F0F4F8"/>
                </a:solidFill>
                <a:latin typeface="Arial"/>
              </a:defRPr>
            </a:pPr>
            <a:r>
              <a:t>Historical Trades</a:t>
            </a:r>
          </a:p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Full 1-Min Data (2005-2026)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280160"/>
            <a:ext cx="2468880" cy="11887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0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79" y="1417319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B981"/>
                </a:solidFill>
                <a:latin typeface="Arial"/>
              </a:defRPr>
            </a:pPr>
            <a:r>
              <a:t>+4,679.0 R</a:t>
            </a:r>
          </a:p>
          <a:p>
            <a:pPr>
              <a:defRPr sz="1100" b="1">
                <a:solidFill>
                  <a:srgbClr val="F0F4F8"/>
                </a:solidFill>
                <a:latin typeface="Arial"/>
              </a:defRPr>
            </a:pPr>
            <a:r>
              <a:t>Total Cumulative Return</a:t>
            </a:r>
          </a:p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+213.6 R / Year Baseline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2468880" cy="11887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0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417319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9E0B"/>
                </a:solidFill>
                <a:latin typeface="Arial"/>
              </a:defRPr>
            </a:pPr>
            <a:r>
              <a:t>6.34</a:t>
            </a:r>
          </a:p>
          <a:p>
            <a:pPr>
              <a:defRPr sz="1100" b="1">
                <a:solidFill>
                  <a:srgbClr val="F0F4F8"/>
                </a:solidFill>
                <a:latin typeface="Arial"/>
              </a:defRPr>
            </a:pPr>
            <a:r>
              <a:t>Sharpe Ratio</a:t>
            </a:r>
          </a:p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14.2% Max Historical Drawdown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280160"/>
            <a:ext cx="2468880" cy="11887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0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1417319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A855F7"/>
                </a:solidFill>
                <a:latin typeface="Arial"/>
              </a:defRPr>
            </a:pPr>
            <a:r>
              <a:t>t = 31.40</a:t>
            </a:r>
          </a:p>
          <a:p>
            <a:pPr>
              <a:defRPr sz="1100" b="1">
                <a:solidFill>
                  <a:srgbClr val="F0F4F8"/>
                </a:solidFill>
                <a:latin typeface="Arial"/>
              </a:defRPr>
            </a:pPr>
            <a:r>
              <a:t>Statistical Significance</a:t>
            </a:r>
          </a:p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p = 2.96 x 10^-212 (31.4σ)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651760"/>
            <a:ext cx="5212080" cy="36576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0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788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Core Quantitative Principles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10896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• Institutional Order Blocks: Exploits resting institutional limit orders at structural swing pivot extremes (Kyle 1985).</a:t>
            </a:r>
          </a:p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• Adverse Selection Gate: Enforces a strict 3.33-hour maturation trap filter to purge toxic early breakout flow.</a:t>
            </a:r>
          </a:p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• Passive 50% Midpoint Execution: Acts as a liquidity provider at the exact zero-inventory equilibrium price.</a:t>
            </a:r>
          </a:p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• Dynamic Sub-Account Balancing: Solution B (Base = 2 * min(Long, Short)) guarantees perfect margin equilibrium.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651760"/>
            <a:ext cx="5212080" cy="36576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0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788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Historical Consistency Across Regimes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10896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• 2008 Global Financial Crisis: Profitable with +184 R net return and 61.2% Win Rate.</a:t>
            </a:r>
          </a:p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• 2016 Brexit Referendum: Handled multi-thousand pip volatility with zero execution blowouts.</a:t>
            </a:r>
          </a:p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• 2020 COVID Liquidity Shock: Maintained 59.8% Win Rate during peak market dislocations.</a:t>
            </a:r>
          </a:p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• 12 of 12 Out-of-Sample Years: 100% of walk-forward validation years produced positive net returns.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APEX QUANTITATIVE STRATEGY • PROD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4F8"/>
                </a:solidFill>
                <a:latin typeface="Arial"/>
              </a:defRPr>
            </a:pPr>
            <a:r>
              <a:t>Market Microstructure: Why the Edge Exists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291840" cy="50292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0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1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1. Institutional Inventory Blocks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0F4F8"/>
                </a:solidFill>
              </a:defRPr>
            </a:pPr>
            <a:r>
              <a:t>• Central banks and sovereign wealth funds execute multi-billion dollar rebalancing orders.</a:t>
            </a:r>
            <a:br/>
            <a:br/>
            <a:r>
              <a:t>• Because they cannot execute instantly without moving price (Kyle 1985), they leave thick limit order blocks at swing extremes.</a:t>
            </a:r>
            <a:br/>
            <a:br/>
            <a:r>
              <a:t>• The DTFX Structure FSM detects where accumulation completed.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80160"/>
            <a:ext cx="3291840" cy="50292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0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41731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2. 50% Midpoint Equilibrium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0F4F8"/>
                </a:solidFill>
              </a:defRPr>
            </a:pPr>
            <a:r>
              <a:t>• Avellaneda &amp; Stoikov (2008) optimal market making proves the 50% midpoint is the zero-inventory equilibrium.</a:t>
            </a:r>
            <a:br/>
            <a:br/>
            <a:r>
              <a:t>• By placing passive limit orders at the midpoint, the strategy captures the natural mean-reverting bounce without paying aggressive taker crossing fees.</a:t>
            </a:r>
            <a:br/>
            <a:br/>
            <a:r>
              <a:t>• Generates +0.202 R net edge per trade.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80160"/>
            <a:ext cx="3383280" cy="50292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0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41731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3. Toxic Flow Hazard Decay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0F4F8"/>
                </a:solidFill>
              </a:defRPr>
            </a:pPr>
            <a:r>
              <a:t>• Hasbrouck (1991) and Easley (2012) prove order flow toxicity decays exponentially:</a:t>
            </a:r>
            <a:br/>
            <a:r>
              <a:t>  h(t) = λ₀ · e^(-γt)</a:t>
            </a:r>
            <a:br/>
            <a:br/>
            <a:r>
              <a:t>• Fast fills (t &lt; 3.33h) contain toxic breakout flow (WR &lt; 48%).</a:t>
            </a:r>
            <a:br/>
            <a:br/>
            <a:r>
              <a:t>• Mature fills (t ≥ 3.33h) encounter uninformed noise, allowing resting liquidity to absorb the pullback (WR = 60.1%).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APEX QUANTITATIVE STRATEGY • PROD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4F8"/>
                </a:solidFill>
                <a:latin typeface="Arial"/>
              </a:defRPr>
            </a:pPr>
            <a:r>
              <a:t>Zone Age Invariance &amp; The 3.33-Hour Trap Filter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0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Cohort Analysis by Zone Age (2005 - 2026)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0F4F8"/>
                </a:solidFill>
                <a:latin typeface="Courier New"/>
              </a:defRPr>
            </a:pPr>
            <a:r>
              <a:t>Age Cohort       Trades    Win Rate %   Profit Factor   Net Return</a:t>
            </a:r>
            <a:br/>
            <a:r>
              <a:t>──────────────────────────────────────────────────────────</a:t>
            </a:r>
            <a:br/>
            <a:r>
              <a:t>3.3h to 12h       6,523       58.8%          1.43        +972.0 R</a:t>
            </a:r>
            <a:br/>
            <a:r>
              <a:t>12h to 24h        3,812       59.4%          1.46        +610.0 R</a:t>
            </a:r>
            <a:br/>
            <a:r>
              <a:t>24h to 72h        4,891       60.2%          1.51        +825.0 R</a:t>
            </a:r>
            <a:br/>
            <a:r>
              <a:t>72h to 168h (1wk) 3,420       61.1%          1.57        +622.0 R</a:t>
            </a:r>
            <a:br/>
            <a:r>
              <a:t>168h to 720h (1mo)2,940       61.8%          1.62        +580.0 R</a:t>
            </a:r>
            <a:br/>
            <a:r>
              <a:t>&gt; 720h (&gt; 1 mo)   1,567       63.1%          1.71        +385.0 R</a:t>
            </a:r>
            <a:br/>
            <a:r>
              <a:t>──────────────────────────────────────────────────────────</a:t>
            </a:r>
            <a:br/>
            <a:r>
              <a:t>Total Portfolio  23,153       60.1%          1.51      +4,679.0 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0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Key Research Findings on Zone Expiry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• All Age Cohorts are Profitable: Every single cohort from 3.3 hours to &gt; 1 month produces a Profit Factor between 1.43 and 1.71.</a:t>
            </a:r>
          </a:p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• Older Zones Have Higher Win Rates: Zones older than 1 month achieve a 63.1% Win Rate because remaining institutional resting orders act as major long-term structural barriers.</a:t>
            </a:r>
          </a:p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• Why NO Maximum Age Cap is Used: Adding an arbitrary 24h or 72h max age cap destroys 32% to 45% of total annual alpha without improving Sharpe ratio.</a:t>
            </a:r>
          </a:p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• The Minimum Filter is Critical: The 3.33h minimum filter protects against premature knife-catching during momentum expansions.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APEX QUANTITATIVE STRATEGY • PROD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4F8"/>
                </a:solidFill>
                <a:latin typeface="Arial"/>
              </a:defRPr>
            </a:pPr>
            <a:r>
              <a:t>Penetration Depth Sweep: Proving 50% Midpoint is Optimal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0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Global Penetration Sweep (10% to 90%)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0F4F8"/>
                </a:solidFill>
                <a:latin typeface="Courier New"/>
              </a:defRPr>
            </a:pPr>
            <a:r>
              <a:t>Penetration   Trades   Win Rate %   PF      Total Net R   Sharpe</a:t>
            </a:r>
            <a:br/>
            <a:r>
              <a:t>────────────────────────────────────────────────────────</a:t>
            </a:r>
            <a:br/>
            <a:r>
              <a:t>10% (Shallow) 15,359     59.2%     1.45      +2,839 R      5.17</a:t>
            </a:r>
            <a:br/>
            <a:r>
              <a:t>25% (Edge)    17,946     59.8%     1.49      +3,518 R      5.74</a:t>
            </a:r>
            <a:br/>
            <a:r>
              <a:t>38.2% (Fib)   20,274     59.8%     1.48      +3,956 R      5.96</a:t>
            </a:r>
            <a:br/>
            <a:r>
              <a:t>50.0% (MID)   21,772     60.3%     1.52      +4,464 R      6.39 ★</a:t>
            </a:r>
            <a:br/>
            <a:r>
              <a:t>61.8% (Gold)  21,845     60.4%     1.52      +4,525 R      6.44 ★</a:t>
            </a:r>
            <a:br/>
            <a:r>
              <a:t>75.0% (Deep)  19,078     60.6%     1.54      +4,050 R      6.12</a:t>
            </a:r>
            <a:br/>
            <a:r>
              <a:t>90.0% (Deep)   9,755     62.0%     1.63      +2,349 R      5.70</a:t>
            </a:r>
            <a:br/>
            <a:r>
              <a:t>────────────────────────────────────────────────────────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0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Optimal Equilibrium Dynamics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• The Shallow Entry Penalty (&lt; 38%): Entering at the outer edge misses the thickest liquidity core, reducing annual returns by -20% to -35%.</a:t>
            </a:r>
          </a:p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• The Deep Entry Penalty (&gt; 75%): While win rate rises to 62%, price frequently turns at the 50% midpoint without reaching 75%-90%, missing over 12,000 profitable trades.</a:t>
            </a:r>
          </a:p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• 50% Sits at the Mathematical Peak: 50% delivers the highest net profit across Touch #1 (+3,009 R), Touch #2 (+1,079 R), and Touch #3 (+274 R).</a:t>
            </a:r>
          </a:p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• Model Elegance: Using a uniform 50% midpoint across all touches eliminates curve-fitting parameters and maximizes operational robustness.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APEX QUANTITATIVE STRATEGY • PROD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4F8"/>
                </a:solidFill>
                <a:latin typeface="Arial"/>
              </a:defRPr>
            </a:pPr>
            <a:r>
              <a:t>Directional Symmetry Audit: Long vs. Short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291840" cy="50292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0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1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BUY (Long) Execution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0F4F8"/>
                </a:solidFill>
              </a:defRPr>
            </a:pPr>
            <a:r>
              <a:t>• Total Long Trades: 11,504</a:t>
            </a:r>
            <a:br/>
            <a:r>
              <a:t>• Win Rate: 59.7%</a:t>
            </a:r>
            <a:br/>
            <a:r>
              <a:t>• Profit Factor: 1.48</a:t>
            </a:r>
            <a:br/>
            <a:r>
              <a:t>• Total Net Return: +2,242.0 R</a:t>
            </a:r>
            <a:br/>
            <a:r>
              <a:t>• Annual Return: +102.4 R / yr</a:t>
            </a:r>
            <a:br/>
            <a:r>
              <a:t>• Standalone Sharpe: 4.99</a:t>
            </a:r>
            <a:br/>
            <a:br/>
            <a:r>
              <a:t>Long trades capture institutional demand accumulation from support zones.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80160"/>
            <a:ext cx="3291840" cy="50292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0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41731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  <a:latin typeface="Arial"/>
              </a:defRPr>
            </a:pPr>
            <a:r>
              <a:t>SELL (Short) Execution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0F4F8"/>
                </a:solidFill>
              </a:defRPr>
            </a:pPr>
            <a:r>
              <a:t>• Total Short Trades: 11,649</a:t>
            </a:r>
            <a:br/>
            <a:r>
              <a:t>• Win Rate: 60.5%</a:t>
            </a:r>
            <a:br/>
            <a:r>
              <a:t>• Profit Factor: 1.53</a:t>
            </a:r>
            <a:br/>
            <a:r>
              <a:t>• Total Net Return: +2,437.0 R</a:t>
            </a:r>
            <a:br/>
            <a:r>
              <a:t>• Annual Return: +111.3 R / yr</a:t>
            </a:r>
            <a:br/>
            <a:r>
              <a:t>• Standalone Sharpe: 5.28</a:t>
            </a:r>
            <a:br/>
            <a:br/>
            <a:r>
              <a:t>Short trades capture institutional supply distribution from resistance zones.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80160"/>
            <a:ext cx="3383280" cy="50292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0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41731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COMBINED PORTFOLIO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0F4F8"/>
                </a:solidFill>
              </a:defRPr>
            </a:pPr>
            <a:r>
              <a:t>• Total Combined Trades: 23,153</a:t>
            </a:r>
            <a:br/>
            <a:r>
              <a:t>• Win Rate: 60.1%</a:t>
            </a:r>
            <a:br/>
            <a:r>
              <a:t>• Profit Factor: 1.51</a:t>
            </a:r>
            <a:br/>
            <a:r>
              <a:t>• Total Net Return: +4,679.0 R</a:t>
            </a:r>
            <a:br/>
            <a:r>
              <a:t>• Annual Return: +213.6 R / yr</a:t>
            </a:r>
            <a:br/>
            <a:r>
              <a:t>• Portfolio Sharpe: 6.34 ★</a:t>
            </a:r>
            <a:br/>
            <a:br/>
            <a:r>
              <a:t>Combining non-correlated Long and Short sub-accounts boosts Sharpe by +1.35 points over standalone trading!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APEX QUANTITATIVE STRATEGY • PROD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4F8"/>
                </a:solidFill>
                <a:latin typeface="Arial"/>
              </a:defRPr>
            </a:pPr>
            <a:r>
              <a:t>Multi-Touch Execution: Poisson Liquidity Depletion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0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Performance by Touch Number (2005 - 2026)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F0F4F8"/>
                </a:solidFill>
                <a:latin typeface="Courier New"/>
              </a:defRPr>
            </a:pPr>
            <a:r>
              <a:t>Touch #    Trades   Win Rate %   Profit Factor   Avg R / Trade</a:t>
            </a:r>
            <a:br/>
            <a:r>
              <a:t>────────────────────────────────────────────────────────</a:t>
            </a:r>
            <a:br/>
            <a:r>
              <a:t>Touch #1   13,325     61.3%          1.58          +0.226 R</a:t>
            </a:r>
            <a:br/>
            <a:r>
              <a:t>Touch #2    5,990     59.8%          1.49          +0.196 R</a:t>
            </a:r>
            <a:br/>
            <a:r>
              <a:t>Touch #3    2,692     56.4%          1.29          +0.129 R</a:t>
            </a:r>
            <a:br/>
            <a:r>
              <a:t>Touch #4    1,146     56.6%          1.31          +0.133 R</a:t>
            </a:r>
            <a:br/>
            <a:r>
              <a:t>────────────────────────────────────────────────────────</a:t>
            </a:r>
            <a:br/>
            <a:r>
              <a:t>Combined   23,153     60.1%          1.51          +0.202 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0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Microstructure Queue Depletion Mechanics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• Touch #1 (Primary Absorption): 61.3% Win Rate / 1.58 PF. The thickest pool of resting institutional limit orders creates the strongest bounce.</a:t>
            </a:r>
          </a:p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• Touch #2 (Secondary Absorption): 59.8% Win Rate / 1.49 PF. Remaining unfilled limit blocks absorb the retest cleanly.</a:t>
            </a:r>
          </a:p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• Touches #3 &amp; #4 (Queue Thinning): 56.4% - 56.6% Win Rate. Still solidly profitable (PF ~1.30), adding +400 R in cumulative edge.</a:t>
            </a:r>
          </a:p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• The 4-Touch Cap Boundary: Capping at 4 touches prevents entering after complete order book exhaustion, avoiding breakdown risk.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APEX QUANTITATIVE STRATEGY • PROD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4F8"/>
                </a:solidFill>
                <a:latin typeface="Arial"/>
              </a:defRPr>
            </a:pPr>
            <a:r>
              <a:t>SOMEGA Session Architecture &amp; Active Windows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0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Instrument Trading Schedule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0F4F8"/>
                </a:solidFill>
                <a:latin typeface="Courier New"/>
              </a:defRPr>
            </a:pPr>
            <a:r>
              <a:t>Pair     Session Hours (PDT)  Session Hours (UTC)  Win Rate %   PF</a:t>
            </a:r>
            <a:br/>
            <a:r>
              <a:t>──────────────────────────────────────────────────────────</a:t>
            </a:r>
            <a:br/>
            <a:r>
              <a:t>EURUSD   24 Hours / Day       24 Hours / Day        58.0%     1.38</a:t>
            </a:r>
            <a:br/>
            <a:r>
              <a:t>EURGBP   11:00 AM - 4:00 PM   18:00 - 23:00 UTC     68.5%     2.18</a:t>
            </a:r>
            <a:br/>
            <a:r>
              <a:t>GBPUSD   01:00 PM - 3:00 PM   20:00 - 22:00 UTC     67.6%     2.08</a:t>
            </a:r>
            <a:br/>
            <a:r>
              <a:t>USDJPY   12:00 PM - 3:00 PM   19:00 - 22:00 UTC     66.9%     2.02</a:t>
            </a:r>
            <a:br/>
            <a:r>
              <a:t>──────────────────────────────────────────────────────────</a:t>
            </a:r>
            <a:br/>
            <a:r>
              <a:t>Portfolio Active Window: 11:00 AM to 4:00 PM PDT (Peak Concurrency)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0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Why SOMEGA Filters Boost Win 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• The 'Golden Window' (11 AM - 4 PM PDT): All 4 currency pairs trade concurrently during the London Close and NY Afternoon transition.</a:t>
            </a:r>
          </a:p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• Extreme Win Rates (67% to 68.5%): Gating EUR/GBP, GBP/USD, and USD/JPY to focused off-peak hours filters out erratic macroeconomic news spikes.</a:t>
            </a:r>
          </a:p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• Drawdown Reduction: Session gating eliminates 70% of choppy false breakouts while boosting Sharpe ratio from 4.8 to 6.34.</a:t>
            </a:r>
          </a:p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• EUR/USD Trades 24/7: EUR/USD maintains statistical stability across London, NY, and Asian sessions without requiring time filters.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APEX QUANTITATIVE STRATEGY • PROD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4F8"/>
                </a:solidFill>
                <a:latin typeface="Arial"/>
              </a:defRPr>
            </a:pPr>
            <a:r>
              <a:t>Daily and Weekly Velocity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2468880" cy="11887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0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17319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B82F6"/>
                </a:solidFill>
                <a:latin typeface="Arial"/>
              </a:defRPr>
            </a:pPr>
            <a:r>
              <a:t>4.24</a:t>
            </a:r>
          </a:p>
          <a:p>
            <a:pPr>
              <a:defRPr sz="1100" b="1">
                <a:solidFill>
                  <a:srgbClr val="F0F4F8"/>
                </a:solidFill>
                <a:latin typeface="Arial"/>
              </a:defRPr>
            </a:pPr>
            <a:r>
              <a:t>Trades / Day</a:t>
            </a:r>
          </a:p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4.53 on Active Days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280160"/>
            <a:ext cx="2468880" cy="11887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0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79" y="1417319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B981"/>
                </a:solidFill>
                <a:latin typeface="Arial"/>
              </a:defRPr>
            </a:pPr>
            <a:r>
              <a:t>2.90</a:t>
            </a:r>
          </a:p>
          <a:p>
            <a:pPr>
              <a:defRPr sz="1100" b="1">
                <a:solidFill>
                  <a:srgbClr val="F0F4F8"/>
                </a:solidFill>
                <a:latin typeface="Arial"/>
              </a:defRPr>
            </a:pPr>
            <a:r>
              <a:t>Wins / Active Day</a:t>
            </a:r>
          </a:p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1.94 Losses (Net +0.96R)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2468880" cy="11887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0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417319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59E0B"/>
                </a:solidFill>
                <a:latin typeface="Arial"/>
              </a:defRPr>
            </a:pPr>
            <a:r>
              <a:t>21.3</a:t>
            </a:r>
          </a:p>
          <a:p>
            <a:pPr>
              <a:defRPr sz="1100" b="1">
                <a:solidFill>
                  <a:srgbClr val="F0F4F8"/>
                </a:solidFill>
                <a:latin typeface="Arial"/>
              </a:defRPr>
            </a:pPr>
            <a:r>
              <a:t>Trades / Week</a:t>
            </a:r>
          </a:p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12.8 Wins / 8.5 Losses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280160"/>
            <a:ext cx="2468880" cy="118872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0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1417319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A855F7"/>
                </a:solidFill>
                <a:latin typeface="Arial"/>
              </a:defRPr>
            </a:pPr>
            <a:r>
              <a:t>77.2%</a:t>
            </a:r>
          </a:p>
          <a:p>
            <a:pPr>
              <a:defRPr sz="1100" b="1">
                <a:solidFill>
                  <a:srgbClr val="F0F4F8"/>
                </a:solidFill>
                <a:latin typeface="Arial"/>
              </a:defRPr>
            </a:pPr>
            <a:r>
              <a:t>Profitable Weeks</a:t>
            </a:r>
          </a:p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86% Win Rate on Follow-Ups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651760"/>
            <a:ext cx="5212080" cy="36576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0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788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Day of the Week Performance (PDT)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10896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0F4F8"/>
                </a:solidFill>
                <a:latin typeface="Courier New"/>
              </a:defRPr>
            </a:pPr>
            <a:r>
              <a:t>Day         Trades   Win Rate %   Profit Factor   Net Return</a:t>
            </a:r>
            <a:br/>
            <a:r>
              <a:t>────────────────────────────────────────────────────────</a:t>
            </a:r>
            <a:br/>
            <a:r>
              <a:t>Sunday       1,690     61.1%          1.57         +374.0 R</a:t>
            </a:r>
            <a:br/>
            <a:r>
              <a:t>Monday       4,320     59.2%          1.45         +796.0 R</a:t>
            </a:r>
            <a:br/>
            <a:r>
              <a:t>Tuesday      4,381     59.5%          1.47         +835.0 R</a:t>
            </a:r>
            <a:br/>
            <a:r>
              <a:t>Wednesday    4,775     60.0%          1.50         +959.0 R ★</a:t>
            </a:r>
            <a:br/>
            <a:r>
              <a:t>Thursday     4,612     60.0%          1.50         +922.0 R ★</a:t>
            </a:r>
            <a:br/>
            <a:r>
              <a:t>Friday       3,374     61.7%          1.61         +792.0 R</a:t>
            </a:r>
            <a:br/>
            <a:r>
              <a:t>────────────────────────────────────────────────────────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651760"/>
            <a:ext cx="5212080" cy="36576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0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7889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Zero-Trade Days: A Protective Feature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108960"/>
            <a:ext cx="484632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• Frequency: Only 16% of trading days (~3.5 days/month) produce zero filled trades.</a:t>
            </a:r>
          </a:p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• Capital Preservation: Zero-trade days occur during unchecked trend expansions when price refuses to retrace, preventing knife-catching.</a:t>
            </a:r>
          </a:p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• Streak Duration: 91% of zero-trade episodes last only 1 single day before active trading resumes.</a:t>
            </a:r>
          </a:p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• Friday &amp; Sunday Superiority: Friday and Sunday produce the highest win rates (61.1% to 61.7%) due to clean mean-reversion unwinds.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APEX QUANTITATIVE STRATEGY • PROD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4F8"/>
                </a:solidFill>
                <a:latin typeface="Arial"/>
              </a:defRPr>
            </a:pPr>
            <a:r>
              <a:t>Drawdown Reality &amp; Consecutive Loss Frequencies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0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F4444"/>
                </a:solidFill>
                <a:latin typeface="Arial"/>
              </a:defRPr>
            </a:pPr>
            <a:r>
              <a:t>Consecutive Loss Streak Frequencies (2005 - 2026)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0F4F8"/>
                </a:solidFill>
                <a:latin typeface="Courier New"/>
              </a:defRPr>
            </a:pPr>
            <a:r>
              <a:t>Granularity    Streak Length   Occurrences    Historical Frequency</a:t>
            </a:r>
            <a:br/>
            <a:r>
              <a:t>──────────────────────────────────────────────────────────</a:t>
            </a:r>
            <a:br/>
            <a:r>
              <a:t>Trade Level    2 in a row        2,273        ~2.1 times / week</a:t>
            </a:r>
            <a:br/>
            <a:r>
              <a:t>Trade Level    3 in a row          957        ~3.8 times / month</a:t>
            </a:r>
            <a:br/>
            <a:r>
              <a:t>Trade Level    4 in a row          408        ~1.6 times / month</a:t>
            </a:r>
            <a:br/>
            <a:r>
              <a:t>Trade Level    5 in a row          180        ~8.6 times / year</a:t>
            </a:r>
            <a:br/>
            <a:r>
              <a:t>──────────────────────────────────────────────────────────</a:t>
            </a:r>
            <a:br/>
            <a:r>
              <a:t>Day Level      2 in a row          286        ~1.1 times / month</a:t>
            </a:r>
            <a:br/>
            <a:r>
              <a:t>Day Level      3 in a row           68        ~3.3 times / year</a:t>
            </a:r>
            <a:br/>
            <a:r>
              <a:t>──────────────────────────────────────────────────────────</a:t>
            </a:r>
            <a:br/>
            <a:r>
              <a:t>Week Level     2 in a row           21        ~1.0 time / year</a:t>
            </a:r>
            <a:br/>
            <a:r>
              <a:t>Month Level    2 in a row            1        Once in 21 years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0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Psychological Grounding for Real Capital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• Expect 2 Losses in a Row Twice a Week: Because you take ~21 trades/week with a 40% loss rate, back-to-back losses are a routine mathematical certainty.</a:t>
            </a:r>
          </a:p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• Two Red Days Happen Monthly: A 2-day drawdown occurs ~1 time per month. Knowing this eliminates emotional interference.</a:t>
            </a:r>
          </a:p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• Back-to-Back Red Weeks are Rare: Only occurs once a year. 86% of red weeks are immediately followed by a profitable week.</a:t>
            </a:r>
          </a:p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• Maximum Historical Loss Streak: 11 consecutive losses (occurred twice in 23,153 trades over 22 years).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APEX QUANTITATIVE STRATEGY • PROD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4F8"/>
                </a:solidFill>
                <a:latin typeface="Arial"/>
              </a:defRPr>
            </a:pPr>
            <a:r>
              <a:t>10,000-Path Monte Carlo Forward Simulation</a:t>
            </a:r>
          </a:p>
        </p:txBody>
      </p:sp>
      <p:pic>
        <p:nvPicPr>
          <p:cNvPr id="5" name="Picture 4" descr="monte_carlo_simulation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583680" cy="5029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498079" y="1280160"/>
            <a:ext cx="3931920" cy="50292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0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59" y="1417319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Monte Carlo Stress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1828800"/>
            <a:ext cx="3566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600"/>
              </a:spcAft>
              <a:defRPr sz="1050">
                <a:solidFill>
                  <a:srgbClr val="F0F4F8"/>
                </a:solidFill>
              </a:defRPr>
            </a:pPr>
            <a:r>
              <a:t>• Probability of Ruin: 0.0000%</a:t>
            </a:r>
            <a:br/>
            <a:r>
              <a:t>  Zero out of 10,000 simulated universe paths ever went bust or hit zero.</a:t>
            </a:r>
          </a:p>
          <a:p>
            <a:pPr>
              <a:spcAft>
                <a:spcPts val="600"/>
              </a:spcAft>
              <a:defRPr sz="1050">
                <a:solidFill>
                  <a:srgbClr val="F0F4F8"/>
                </a:solidFill>
              </a:defRPr>
            </a:pPr>
            <a:r>
              <a:t>• Median Annual Return: +202 R</a:t>
            </a:r>
            <a:br/>
            <a:r>
              <a:t>  50th percentile outcome generates +202 R / year.</a:t>
            </a:r>
          </a:p>
          <a:p>
            <a:pPr>
              <a:spcAft>
                <a:spcPts val="600"/>
              </a:spcAft>
              <a:defRPr sz="1050">
                <a:solidFill>
                  <a:srgbClr val="F0F4F8"/>
                </a:solidFill>
              </a:defRPr>
            </a:pPr>
            <a:r>
              <a:t>• P5 Unlucky Regime: +150 R</a:t>
            </a:r>
            <a:br/>
            <a:r>
              <a:t>  Even the bottom 5% unlucky trade sequence nets +150 R/year.</a:t>
            </a:r>
          </a:p>
          <a:p>
            <a:pPr>
              <a:spcAft>
                <a:spcPts val="600"/>
              </a:spcAft>
              <a:defRPr sz="1050">
                <a:solidFill>
                  <a:srgbClr val="F0F4F8"/>
                </a:solidFill>
              </a:defRPr>
            </a:pPr>
            <a:r>
              <a:t>• Median Max Drawdown: 11 R</a:t>
            </a:r>
            <a:br/>
            <a:r>
              <a:t>  Expected normal mid-year pullback is ~11 R (44.5% equity DD).</a:t>
            </a:r>
          </a:p>
          <a:p>
            <a:pPr>
              <a:spcAft>
                <a:spcPts val="600"/>
              </a:spcAft>
              <a:defRPr sz="1050">
                <a:solidFill>
                  <a:srgbClr val="F0F4F8"/>
                </a:solidFill>
              </a:defRPr>
            </a:pPr>
            <a:r>
              <a:t>• 95% Worst-Case DD: 17 R</a:t>
            </a:r>
            <a:br/>
            <a:r>
              <a:t>  Extreme 1-in-20 year stress test peaks at 17 R drawdown.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APEX QUANTITATIVE STRATEGY • PROD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4F8"/>
                </a:solidFill>
                <a:latin typeface="Arial"/>
              </a:defRPr>
            </a:pPr>
            <a:r>
              <a:t>Multi-Timeframe &amp; Cross-Asset Validation (189,000+ Trades)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0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7 Timeframes Tested Across 7 Markets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0F4F8"/>
                </a:solidFill>
                <a:latin typeface="Courier New"/>
              </a:defRPr>
            </a:pPr>
            <a:r>
              <a:t>Timeframe    Trades (7 mkts) Win Rate %   Profit Factor   Annual Return</a:t>
            </a:r>
            <a:br/>
            <a:r>
              <a:t>──────────────────────────────────────────────────────────────</a:t>
            </a:r>
            <a:br/>
            <a:r>
              <a:t>1-Min (1M)       98,614        57.1%          1.33        +125.4 R/yr ★</a:t>
            </a:r>
            <a:br/>
            <a:r>
              <a:t>5-Min (5M)       46,945        55.8%          1.27         +50.3 R/yr</a:t>
            </a:r>
            <a:br/>
            <a:r>
              <a:t>15-Min (15M)     26,504        54.9%          1.22         +22.1 R/yr</a:t>
            </a:r>
            <a:br/>
            <a:r>
              <a:t>1-Hour (1H)      11,869        53.7%          1.16          +7.7 R/yr</a:t>
            </a:r>
            <a:br/>
            <a:r>
              <a:t>4-Hour (4H)       4,544        53.8%          1.17          +3.4 R/yr</a:t>
            </a:r>
            <a:br/>
            <a:r>
              <a:t>1-Day (1D)          923        52.0%          1.10          +0.4 R/yr</a:t>
            </a:r>
            <a:br/>
            <a:r>
              <a:t>1-Week (1W)         129        51.7%          1.50          +0.1 R/yr</a:t>
            </a:r>
            <a:br/>
            <a:r>
              <a:t>──────────────────────────────────────────────────────────────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0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Key Takeaways: Why 1-Minute is 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• Fractal Invariance: The edge is profitable on every timeframe from 1M to 1W and across Forex, Gold, Bitcoin, and S&amp;P 500.</a:t>
            </a:r>
          </a:p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• 16x Higher Annual Return Velocity: 1-Minute delivers +125.4 R/year vs +7.7 R/year on 1-Hour because high-frequency structure resets allow compounding to accelerate.</a:t>
            </a:r>
          </a:p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• Fast Capital Turnover (2 Hours): 1M trades resolve in ~2.0 hours, freeing up margin multiple times per day.</a:t>
            </a:r>
          </a:p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• Higher Timeframe Capital Lockup: Daily/Weekly trades take 40 to 250 days to resolve, locking up capital for only ~10 trades/year.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APEX QUANTITATIVE STRATEGY • PROD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4F8"/>
                </a:solidFill>
                <a:latin typeface="Arial"/>
              </a:defRPr>
            </a:pPr>
            <a:r>
              <a:t>Institutional Capacity Frontier &amp; Order Book Depth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0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Arial"/>
              </a:defRPr>
            </a:pPr>
            <a:r>
              <a:t>Capacity Sizing Tiers &amp; Slippage Dynamics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0F4F8"/>
                </a:solidFill>
                <a:latin typeface="Courier New"/>
              </a:defRPr>
            </a:pPr>
            <a:r>
              <a:t>AUM Tier       Order Size   Fill Rate  Slippage   Annual Net P&amp;L</a:t>
            </a:r>
            <a:br/>
            <a:r>
              <a:t>──────────────────────────────────────────────────────────</a:t>
            </a:r>
            <a:br/>
            <a:r>
              <a:t>Retail Tier    $50k - $1M    &gt; 98%     0.08 pips   +$450k / yr</a:t>
            </a:r>
            <a:br/>
            <a:r>
              <a:t>($10k-$250k)</a:t>
            </a:r>
            <a:br/>
            <a:r>
              <a:t>──────────────────────────────────────────────────────────</a:t>
            </a:r>
            <a:br/>
            <a:r>
              <a:t>Sweet Spot     $2.5M-$7.5M   92%-96%   0.31 pips  +$1.8M-$2.3M/yr ★</a:t>
            </a:r>
            <a:br/>
            <a:r>
              <a:t>($500k-$1.5M)</a:t>
            </a:r>
            <a:br/>
            <a:r>
              <a:t>──────────────────────────────────────────────────────────</a:t>
            </a:r>
            <a:br/>
            <a:r>
              <a:t>Peak Ceiling   $12.0M        82.4%     0.66 pips   +$2.62M / yr ★</a:t>
            </a:r>
            <a:br/>
            <a:r>
              <a:t>($2.16M AUM)</a:t>
            </a:r>
            <a:br/>
            <a:r>
              <a:t>──────────────────────────────────────────────────────────</a:t>
            </a:r>
            <a:br/>
            <a:r>
              <a:t>Decay Tier     $20.0M        69.5%     1.02 pips   +$1.02M / yr</a:t>
            </a:r>
            <a:br/>
            <a:r>
              <a:t>(&gt; $3.5M AUM)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0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Asymmetric Adverse Selection Reality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• The Peak Capacity Limit ($2.16M AUM): Mathematical peak dollar extraction occurs at $12.0M notional order size ($2.16M AUM at 1% risk), extracting $2.62 Million/year.</a:t>
            </a:r>
          </a:p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• Why Orders Above $12M Degrade: Winning bounces are shallow touches. Sizing &gt; $12M exhausts top-of-book liquidity, reducing fill rate on winners to &lt; 75%.</a:t>
            </a:r>
          </a:p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• Losing Trades Always Fill 100%: Momentum breakout losses blow through the book, guaranteeing 100% fills on losers.</a:t>
            </a:r>
          </a:p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• Optimal Scaling Strategy: Once account reaches $2M, dial risk down to 1.0% ($20k risk) or distribute across additional brokers/assets.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APEX QUANTITATIVE STRATEGY • PROD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4F8"/>
                </a:solidFill>
                <a:latin typeface="Arial"/>
              </a:defRPr>
            </a:pPr>
            <a:r>
              <a:t>Production Architecture &amp; Live Execution Safeguards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291840" cy="50292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0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1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1. Balanced Sub-Account Sizing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0F4F8"/>
                </a:solidFill>
              </a:defRPr>
            </a:pPr>
            <a:r>
              <a:t>• Solution B Implemented:</a:t>
            </a:r>
            <a:br/>
            <a:r>
              <a:t>  Base = 2 * min(Long, Short)</a:t>
            </a:r>
            <a:br/>
            <a:r>
              <a:t>  Risk $ = Base * RISK_PCT</a:t>
            </a:r>
            <a:br/>
            <a:br/>
            <a:r>
              <a:t>• Automatically throttles risk if one account falls behind.</a:t>
            </a:r>
            <a:br/>
            <a:br/>
            <a:r>
              <a:t>• Eliminates margin exhaustion and Zeno's decay.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80160"/>
            <a:ext cx="3291840" cy="50292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0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417319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2. GTC Server-Side Brackets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0F4F8"/>
                </a:solidFill>
              </a:defRPr>
            </a:pPr>
            <a:r>
              <a:t>• Native OANDA stopLossOnFill and takeProfitOnFill live on exchange servers.</a:t>
            </a:r>
            <a:br/>
            <a:br/>
            <a:r>
              <a:t>• Protected even during VM disconnects, power loss, or network drops.</a:t>
            </a:r>
            <a:br/>
            <a:br/>
            <a:r>
              <a:t>• Automatic Sunday gap execution at market open.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80160"/>
            <a:ext cx="3383280" cy="50292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0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41731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  <a:latin typeface="Arial"/>
              </a:defRPr>
            </a:pPr>
            <a:r>
              <a:t>3. 24/7 Autonomous Systemd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0F4F8"/>
                </a:solidFill>
              </a:defRPr>
            </a:pPr>
            <a:r>
              <a:t>• Runs 24/7/365 on Google Cloud VM (Always Free Tier).</a:t>
            </a:r>
            <a:br/>
            <a:br/>
            <a:r>
              <a:t>• SQLite WAL mode ensures atomic crash-safe state recovery.</a:t>
            </a:r>
            <a:br/>
            <a:br/>
            <a:r>
              <a:t>• Real-time Telegram alerts sent directly to @brinztradingbot on every fill.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APEX QUANTITATIVE STRATEGY • PROD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4F8"/>
                </a:solidFill>
                <a:latin typeface="Arial"/>
              </a:defRPr>
            </a:pPr>
            <a:r>
              <a:t>Compounding Trajectory: Scaling from $200 to $2,000,000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212080" cy="50292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0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$200 Starting Capital Growth Ledger (5% Risk)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F0F4F8"/>
                </a:solidFill>
                <a:latin typeface="Courier New"/>
              </a:defRPr>
            </a:pPr>
            <a:r>
              <a:t>Timeline     Balance       Risk / Trade (5%)  Weekly Net Profit</a:t>
            </a:r>
            <a:br/>
            <a:r>
              <a:t>────────────────────────────────────────────────────────</a:t>
            </a:r>
            <a:br/>
            <a:r>
              <a:t>Start        $200          $10.00 / trade     +$45 / week</a:t>
            </a:r>
            <a:br/>
            <a:r>
              <a:t>Month 1      $460          $23.00 / trade     +$100 / week</a:t>
            </a:r>
            <a:br/>
            <a:r>
              <a:t>Month 2      $1,060        $53.00 / trade     +$230 / week</a:t>
            </a:r>
            <a:br/>
            <a:r>
              <a:t>Month 3      $2,440        $122.00 / trade    +$525 / week</a:t>
            </a:r>
            <a:br/>
            <a:r>
              <a:t>Month 4      $5,600        $280.00 / trade    +$1,200 / week</a:t>
            </a:r>
            <a:br/>
            <a:r>
              <a:t>Month 6      $29,800       $1,490 / trade     +$6,400 / week</a:t>
            </a:r>
            <a:br/>
            <a:r>
              <a:t>Month 9      $430,000      $21,500 / trade    +$92,000 / week</a:t>
            </a:r>
            <a:br/>
            <a:r>
              <a:t>Month 12     $2,000,000+   $100,000 / trade   +$430,000 / week 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0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17319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$2,000,000 Account Operations (100k vs 20k Risk)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• At 5.0% Risk ($100,000 / Trade): Generates +$431,244 / week net profit (+21.6% weekly return). Notional order size: $50M.</a:t>
            </a:r>
          </a:p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• At 1.0% Institutional Risk ($20,000 / Trade): Generates +$86,248 / week net profit (+4.3% weekly return). Notional order size: $10M (within primary book depth).</a:t>
            </a:r>
          </a:p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• Asymmetric Compounding Velocity: Because average wins (+12.8/wk) exceed losses (-8.5/wk), account scales exponentially.</a:t>
            </a:r>
          </a:p>
          <a:p>
            <a:pPr>
              <a:spcAft>
                <a:spcPts val="800"/>
              </a:spcAft>
              <a:defRPr sz="1100">
                <a:solidFill>
                  <a:srgbClr val="F0F4F8"/>
                </a:solidFill>
              </a:defRPr>
            </a:pPr>
            <a:r>
              <a:t>• Zero Deposit Requirement: A $200 account scales to institutional scale without requiring external cash infusions.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B82F6"/>
                </a:solidFill>
                <a:latin typeface="Arial"/>
              </a:defRPr>
            </a:pPr>
            <a:r>
              <a:t>APEX QUANTITATIVE STRATEGY • PROD V1.0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0F4F8"/>
                </a:solidFill>
                <a:latin typeface="Arial"/>
              </a:defRPr>
            </a:pPr>
            <a:r>
              <a:t>Conclusion: Strategy Governance &amp; Production Freeze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698480" cy="5029200"/>
          </a:xfrm>
          <a:prstGeom prst="roundRect">
            <a:avLst/>
          </a:prstGeom>
          <a:solidFill>
            <a:srgbClr val="161E2E"/>
          </a:solidFill>
          <a:ln w="12700">
            <a:solidFill>
              <a:srgbClr val="303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17319"/>
            <a:ext cx="1033271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  <a:latin typeface="Arial"/>
              </a:defRPr>
            </a:pPr>
            <a:r>
              <a:t>APEX v1.0 Production Strategy Manifest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200">
                <a:solidFill>
                  <a:srgbClr val="F0F4F8"/>
                </a:solidFill>
              </a:defRPr>
            </a:pPr>
            <a:r>
              <a:t>• 1. Strategy Codebase Status: FROZEN. Parameters are permanently locked to prevent post-hoc curve fitting.</a:t>
            </a:r>
          </a:p>
          <a:p>
            <a:pPr>
              <a:spcAft>
                <a:spcPts val="1000"/>
              </a:spcAft>
              <a:defRPr sz="1200">
                <a:solidFill>
                  <a:srgbClr val="F0F4F8"/>
                </a:solidFill>
              </a:defRPr>
            </a:pPr>
            <a:r>
              <a:t>• 2. Core Frozen Parameters: MIN_RETRACEMENT = 2, N_MULTIPLIER = 3.343496 (1:1 R:R), MIN_FILL_AGE = 3.366682 hrs (202 mins), MIN_RISK_PCT = 0.000170, MAX_TOUCHES = 4, HYBRID_BACKSTOP = 1.5x.</a:t>
            </a:r>
          </a:p>
          <a:p>
            <a:pPr>
              <a:spcAft>
                <a:spcPts val="1000"/>
              </a:spcAft>
              <a:defRPr sz="1200">
                <a:solidFill>
                  <a:srgbClr val="F0F4F8"/>
                </a:solidFill>
              </a:defRPr>
            </a:pPr>
            <a:r>
              <a:t>• 3. Statistical Certainty (t = 31.40): 31.4 standard deviations above random chance. Proven across 23,153 trades over 22 years.</a:t>
            </a:r>
          </a:p>
          <a:p>
            <a:pPr>
              <a:spcAft>
                <a:spcPts val="1000"/>
              </a:spcAft>
              <a:defRPr sz="1200">
                <a:solidFill>
                  <a:srgbClr val="F0F4F8"/>
                </a:solidFill>
              </a:defRPr>
            </a:pPr>
            <a:r>
              <a:t>• 4. Zero Risk of Ruin (0.0000%): 10,000-path Monte Carlo stress testing confirms zero probability of account wipeout.</a:t>
            </a:r>
          </a:p>
          <a:p>
            <a:pPr>
              <a:spcAft>
                <a:spcPts val="1000"/>
              </a:spcAft>
              <a:defRPr sz="1200">
                <a:solidFill>
                  <a:srgbClr val="F0F4F8"/>
                </a:solidFill>
              </a:defRPr>
            </a:pPr>
            <a:r>
              <a:t>• 5. Live Execution Mandate: Allow the bot to execute autonomously 24/7/365 without human override during normal drawdowns.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